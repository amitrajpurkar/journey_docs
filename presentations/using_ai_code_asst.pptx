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www.demandlab.com/resources/blog/5-takeaways-report-on-the-state-of-ai-in-business/" TargetMode="Externa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github.com/github/spec-kit" TargetMode="Externa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github.com/johnpeterman72/CursorRIPER" TargetMode="External"/><Relationship Id="rId4" Type="http://schemas.openxmlformats.org/officeDocument/2006/relationships/hyperlink" Target="https://www.kzsoftworks.com/blog/windsurf-workflows-from-prompt-chaos-to-productive-focus" TargetMode="External"/><Relationship Id="rId5" Type="http://schemas.openxmlformats.org/officeDocument/2006/relationships/hyperlink" Target="https://github.com/kzsoftworks/windsurf-workflows" TargetMode="Externa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github.com/anthropics/skills" TargetMode="External"/><Relationship Id="rId4" Type="http://schemas.openxmlformats.org/officeDocument/2006/relationships/hyperlink" Target="https://docs.windsurf.com/windsurf/cascade/skills" TargetMode="Externa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www.scriptbyai.com/best-agent-skills/#google_vignette" TargetMode="External"/><Relationship Id="rId4" Type="http://schemas.openxmlformats.org/officeDocument/2006/relationships/hyperlink" Target="https://github.com/obra/superpowers/tree/main/skills" TargetMode="External"/><Relationship Id="rId5" Type="http://schemas.openxmlformats.org/officeDocument/2006/relationships/hyperlink" Target="https://github.com/vercel-labs/agent-skills" TargetMode="External"/><Relationship Id="rId6" Type="http://schemas.openxmlformats.org/officeDocument/2006/relationships/hyperlink" Target="https://github.com/OthmanAdi/planning-with-files" TargetMode="External"/><Relationship Id="rId7" Type="http://schemas.openxmlformats.org/officeDocument/2006/relationships/hyperlink" Target="https://github.com/muratcankoylan/Agent-Skills-for-Context-Engineering" TargetMode="External"/><Relationship Id="rId8" Type="http://schemas.openxmlformats.org/officeDocument/2006/relationships/hyperlink" Target="https://github.com/K-Dense-AI/claude-scientific-skills" TargetMode="Externa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github.com/ComposioHQ/awesome-claude-skills" TargetMode="Externa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forum.cursor.com/t/i-created-an-amazing-mode-called-riper-5-mode-fixes-claude-3-7-drastically/65516" TargetMode="Externa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amitrajpurkar.github.io/" TargetMode="External"/><Relationship Id="rId4" Type="http://schemas.openxmlformats.org/officeDocument/2006/relationships/hyperlink" Target="https://github.com/wesreisz-tw/icsaet-demo" TargetMode="Externa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www.infoq.com/presentations/chop-rag-llm-qcon/" TargetMode="Externa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hape 1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2026/01/13: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on IDE differences and also how different LLMS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https://www.demandlab.com/resources/blog/5-takeaways-report-on-the-state-of-ai-in-business/</a:t>
            </a:r>
          </a:p>
          <a:p>
            <a:pPr/>
            <a:r>
              <a:t>https://www.aigl.blog/state-of-ai-in-business-2025/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am personally using Windsurf; purchased Professional license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Shape 2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u="sng">
                <a:hlinkClick r:id="rId3" invalidUrl="" action="" tgtFrame="" tooltip="" history="1" highlightClick="0" endSnd="0"/>
              </a:rPr>
              <a:t>https://github.com/github/spec-kit</a:t>
            </a:r>
          </a:p>
          <a:p>
            <a:pPr/>
            <a:r>
              <a:t>Though this information is pulled from ChatGPT and Poe, these snippets are valuable.</a:t>
            </a:r>
          </a:p>
          <a:p>
            <a:pPr/>
            <a:r>
              <a:t>I am experimenting with SpecKit on a couple of apps.. so far so good.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Know more: Speckit only shows us one way to introduce specifications into our development workflow. As you mature into this process, you can evolve your own specification template or even hand-craft your own specifications for the application or project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https://github.com/johnpeterman72/CursorRIPER</a:t>
            </a:r>
            <a:r>
              <a:t>. —&gt; RIPER = Research-Innovate-Plan-Execute-Review loop</a:t>
            </a:r>
          </a:p>
          <a:p>
            <a:pPr/>
            <a:r>
              <a:rPr u="sng">
                <a:hlinkClick r:id="rId4" invalidUrl="" action="" tgtFrame="" tooltip="" history="1" highlightClick="0" endSnd="0"/>
              </a:rPr>
              <a:t>https://www.kzsoftworks.com/blog/windsurf-workflows-from-prompt-chaos-to-productive-focus</a:t>
            </a:r>
          </a:p>
          <a:p>
            <a:pPr/>
            <a:r>
              <a:rPr u="sng">
                <a:hlinkClick r:id="rId5" invalidUrl="" action="" tgtFrame="" tooltip="" history="1" highlightClick="0" endSnd="0"/>
              </a:rPr>
              <a:t>https://github.com/kzsoftworks/windsurf-workflows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Shape 2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More commands are being released as time progresses; Above was true as of Nov 2025; as of 2026-02-08 I am seeing newer commands: “checklist”, “taskstoissues”;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u="sng">
                <a:hlinkClick r:id="rId3" invalidUrl="" action="" tgtFrame="" tooltip="" history="1" highlightClick="0" endSnd="0"/>
              </a:rPr>
              <a:t>https://github.com/anthropics/skills</a:t>
            </a:r>
          </a:p>
          <a:p>
            <a:pPr/>
            <a:r>
              <a:t>Experimentation on Skills is yet to start. Collect samples of Skills, experiment, tweak.</a:t>
            </a:r>
          </a:p>
          <a:p>
            <a:pPr/>
            <a:r>
              <a:t>Try using Skills with Speckit.. need to understand how it works</a:t>
            </a:r>
          </a:p>
          <a:p>
            <a:pPr/>
            <a:r>
              <a:t>And then revise here, what are the benefits I see plus any other feedback </a:t>
            </a:r>
          </a:p>
          <a:p>
            <a:pPr/>
            <a:r>
              <a:rPr u="sng">
                <a:hlinkClick r:id="rId4" invalidUrl="" action="" tgtFrame="" tooltip="" history="1" highlightClick="0" endSnd="0"/>
              </a:rPr>
              <a:t>https://docs.windsurf.com/windsurf/cascade/skills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2" name="Shape 2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https://agents.md/</a:t>
            </a:r>
          </a:p>
          <a:p>
            <a:pPr/>
            <a:r>
              <a:t>Need to Experiment Agent.md … need to explicitly invoke this alongside Speckit</a:t>
            </a:r>
          </a:p>
          <a:p>
            <a:pPr/>
            <a:r>
              <a:t>Capture a bunch of samples for Agent files… for different roles in SDLC and different types of Developers/ architects; Java, Python, React and Frontend expert, etc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https://www.scriptbyai.com/best-agent-skills/#google_vignette</a:t>
            </a:r>
          </a:p>
          <a:p>
            <a:pPr/>
            <a:r>
              <a:rPr u="sng">
                <a:hlinkClick r:id="rId4" invalidUrl="" action="" tgtFrame="" tooltip="" history="1" highlightClick="0" endSnd="0"/>
              </a:rPr>
              <a:t>https://github.com/obra/superpowers/tree/main/skills</a:t>
            </a:r>
          </a:p>
          <a:p>
            <a:pPr/>
            <a:r>
              <a:rPr u="sng">
                <a:hlinkClick r:id="rId5" invalidUrl="" action="" tgtFrame="" tooltip="" history="1" highlightClick="0" endSnd="0"/>
              </a:rPr>
              <a:t>https://github.com/vercel-labs/agent-skills</a:t>
            </a:r>
          </a:p>
          <a:p>
            <a:pPr/>
            <a:r>
              <a:rPr u="sng">
                <a:hlinkClick r:id="rId6" invalidUrl="" action="" tgtFrame="" tooltip="" history="1" highlightClick="0" endSnd="0"/>
              </a:rPr>
              <a:t>https://github.com/OthmanAdi/planning-with-files</a:t>
            </a:r>
          </a:p>
          <a:p>
            <a:pPr/>
            <a:r>
              <a:rPr u="sng">
                <a:hlinkClick r:id="rId7" invalidUrl="" action="" tgtFrame="" tooltip="" history="1" highlightClick="0" endSnd="0"/>
              </a:rPr>
              <a:t>https://github.com/muratcankoylan/Agent-Skills-for-Context-Engineering</a:t>
            </a:r>
          </a:p>
          <a:p>
            <a:pPr/>
            <a:r>
              <a:rPr u="sng">
                <a:hlinkClick r:id="rId8" invalidUrl="" action="" tgtFrame="" tooltip="" history="1" highlightClick="0" endSnd="0"/>
              </a:rPr>
              <a:t>https://github.com/K-Dense-AI/claude-scientific-skills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8" name="Shape 2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NOTE: a developer typically builds his toolkit, evolve/ maintain AGENTS.md for java-developer, one for python-developer, react-developer, etc; build up Skills library: code-review, CI-CD, deployment; request-validations; etc; 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https://github.com/ComposioHQ/awesome-claude-skills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4" name="Shape 2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NOTE: Racing to code / touching delivery-finish-line is not the goal — breaking down the specification; getting requirements right; understanding domain knowledge that’s the key, before you touch or start coding; this is not a one-man-job; a small team can ideally make the engineering practice a reality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https://forum.cursor.com/t/i-created-an-amazing-mode-called-riper-5-mode-fixes-claude-3-7-drastically/65516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2" name="Shape 2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Get samples for different roles.. for both Agent and Skills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Shape 2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u="sng">
                <a:hlinkClick r:id="rId3" invalidUrl="" action="" tgtFrame="" tooltip="" history="1" highlightClick="0" endSnd="0"/>
              </a:rPr>
              <a:t>https://amitrajpurkar.github.io/</a:t>
            </a:r>
          </a:p>
          <a:p>
            <a:pPr/>
            <a:r>
              <a:t>I started experimenting with speckit since October 2025; I am still a novice at SPECs at Feb 2026, after about 6 experiment apps; getting maturity with SPECS, AGENTS, SKILLS will take time and effort. </a:t>
            </a:r>
          </a:p>
          <a:p>
            <a:pPr/>
            <a:r>
              <a:rPr u="sng">
                <a:hlinkClick r:id="rId4" invalidUrl="" action="" tgtFrame="" tooltip="" history="1" highlightClick="0" endSnd="0"/>
              </a:rPr>
              <a:t>https://github.com/wesreisz-tw/icsaet-demo</a:t>
            </a:r>
            <a:r>
              <a:t>  —&gt; check “specifications” folder to see what high-maturity-level specs look like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6" name="Shape 2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check the last link, an insightful session from Thoughtworks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https://www.infoq.com/presentations/chop-rag-llm-qcon/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8" name="Shape 3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2026/01/13: 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a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ithub/spec-kit" TargetMode="External"/><Relationship Id="rId3" Type="http://schemas.openxmlformats.org/officeDocument/2006/relationships/hyperlink" Target="https://www.youtube.com/watch?v=a9eR1xsfvHg" TargetMode="External"/><Relationship Id="rId4" Type="http://schemas.openxmlformats.org/officeDocument/2006/relationships/hyperlink" Target="https://www.youtube.com/watch?v=SGHIQTsPzuY" TargetMode="External"/><Relationship Id="rId5" Type="http://schemas.openxmlformats.org/officeDocument/2006/relationships/hyperlink" Target="https://www.youtube.com/watch?v=8jtIXRyGMQU" TargetMode="External"/><Relationship Id="rId6" Type="http://schemas.openxmlformats.org/officeDocument/2006/relationships/hyperlink" Target="https://docs.windsurf.com/windsurf/cascade/workflows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odcasts.apple.com/us/podcast/how-ai-will-change-software-engineering-with-martin-fowler/id1769051199?i=1000737446931" TargetMode="External"/><Relationship Id="rId4" Type="http://schemas.openxmlformats.org/officeDocument/2006/relationships/hyperlink" Target="https://martinfowler.com/articles/legacy-modernization-gen-ai.html" TargetMode="External"/><Relationship Id="rId5" Type="http://schemas.openxmlformats.org/officeDocument/2006/relationships/hyperlink" Target="https://www.thoughtworks.com/en-in/insights/podcasts/technology-podcasts/using-generative-ai-legacy-modernization" TargetMode="External"/><Relationship Id="rId6" Type="http://schemas.openxmlformats.org/officeDocument/2006/relationships/hyperlink" Target="https://youtu.be/6aD4c_izpnE?si=visMMXLY5mkJrQ8j" TargetMode="External"/><Relationship Id="rId7" Type="http://schemas.openxmlformats.org/officeDocument/2006/relationships/hyperlink" Target="https://youtu.be/yNH52oDpIKw?si=TFH8X0ErUW6E7-_O" TargetMode="External"/><Relationship Id="rId8" Type="http://schemas.openxmlformats.org/officeDocument/2006/relationships/hyperlink" Target="https://www.deeplearning.ai/" TargetMode="External"/><Relationship Id="rId9" Type="http://schemas.openxmlformats.org/officeDocument/2006/relationships/hyperlink" Target="https://www.anthropic.com/learn" TargetMode="External"/><Relationship Id="rId10" Type="http://schemas.openxmlformats.org/officeDocument/2006/relationships/hyperlink" Target="https://youtu.be/wVyQn6QRcT4?feature=shared" TargetMode="Externa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s: Amit with Wai team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Authors: Amit with Wai team</a:t>
            </a:r>
          </a:p>
        </p:txBody>
      </p:sp>
      <p:sp>
        <p:nvSpPr>
          <p:cNvPr id="172" name="“How to leverage AI Code Assistants with Agent.md, SpecKit, Skills”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“How to leverage AI Code Assistants with Agent.md, SpecKit, Skills”</a:t>
            </a:r>
          </a:p>
        </p:txBody>
      </p:sp>
      <p:sp>
        <p:nvSpPr>
          <p:cNvPr id="173" name="How to use AI Code Assistan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to use AI Code Assistant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How is this doc organiz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How is this doc organized</a:t>
            </a:r>
          </a:p>
        </p:txBody>
      </p:sp>
      <p:sp>
        <p:nvSpPr>
          <p:cNvPr id="176" name="Topic: Working effectively with AI Code Assistants with Agent, Specs, Skills…"/>
          <p:cNvSpPr txBox="1"/>
          <p:nvPr>
            <p:ph type="body" idx="1"/>
          </p:nvPr>
        </p:nvSpPr>
        <p:spPr>
          <a:xfrm>
            <a:off x="1206500" y="2645066"/>
            <a:ext cx="21971000" cy="9859450"/>
          </a:xfrm>
          <a:prstGeom prst="rect">
            <a:avLst/>
          </a:prstGeom>
        </p:spPr>
        <p:txBody>
          <a:bodyPr/>
          <a:lstStyle/>
          <a:p>
            <a:pPr/>
            <a:r>
              <a:t>Topic: Working effectively with AI Code Assistants with Agent, Specs, Skills</a:t>
            </a:r>
          </a:p>
          <a:p>
            <a:pPr/>
            <a:r>
              <a:t>white-labelled experiment = git@github.com:amitrajpurkar/sprboot_api_cktBrkr.git</a:t>
            </a:r>
          </a:p>
          <a:p>
            <a:pPr/>
            <a:r>
              <a:t>Sequence</a:t>
            </a:r>
          </a:p>
          <a:p>
            <a:pPr lvl="1">
              <a:spcBef>
                <a:spcPts val="1000"/>
              </a:spcBef>
              <a:defRPr sz="2800"/>
            </a:pPr>
            <a:r>
              <a:t>Background on AI Agents, IDEs … pages 3-5 : xxx minutes… 20%</a:t>
            </a:r>
          </a:p>
          <a:p>
            <a:pPr lvl="1">
              <a:spcBef>
                <a:spcPts val="1000"/>
              </a:spcBef>
              <a:defRPr sz="2800"/>
            </a:pPr>
            <a:r>
              <a:t>About Speckit … pages 6-9 : xxx minutes… 5%</a:t>
            </a:r>
          </a:p>
          <a:p>
            <a:pPr lvl="1">
              <a:spcBef>
                <a:spcPts val="1000"/>
              </a:spcBef>
              <a:defRPr sz="2800"/>
            </a:pPr>
            <a:r>
              <a:t>About Skills… pages 10-11</a:t>
            </a:r>
          </a:p>
          <a:p>
            <a:pPr lvl="1">
              <a:spcBef>
                <a:spcPts val="1000"/>
              </a:spcBef>
              <a:defRPr sz="2800"/>
            </a:pPr>
            <a:r>
              <a:t>About Agents.md … pages 12-13</a:t>
            </a:r>
          </a:p>
          <a:p>
            <a:pPr lvl="1">
              <a:spcBef>
                <a:spcPts val="1000"/>
              </a:spcBef>
              <a:defRPr sz="2800"/>
            </a:pPr>
            <a:r>
              <a:t>SDLC Roles with AI Agents … pages 14-16 </a:t>
            </a:r>
          </a:p>
          <a:p>
            <a:pPr lvl="1">
              <a:spcBef>
                <a:spcPts val="1000"/>
              </a:spcBef>
              <a:defRPr sz="2800"/>
            </a:pPr>
            <a:r>
              <a:t>Ending thoughts … pages 17-18 : xxx minutes… 5%</a:t>
            </a:r>
          </a:p>
          <a:p>
            <a:pPr lvl="1">
              <a:spcBef>
                <a:spcPts val="1000"/>
              </a:spcBef>
              <a:defRPr sz="2800"/>
            </a:pPr>
            <a:r>
              <a:t>Journey of one experiment … pages 19-33 : xxx minutes… 60%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Background on AI Code Assista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Background on AI Code Assistants</a:t>
            </a:r>
          </a:p>
        </p:txBody>
      </p:sp>
      <p:sp>
        <p:nvSpPr>
          <p:cNvPr id="181" name="AI does not replace a task; it augments and helps with automation; work is still done by the developer…"/>
          <p:cNvSpPr txBox="1"/>
          <p:nvPr>
            <p:ph type="body" idx="1"/>
          </p:nvPr>
        </p:nvSpPr>
        <p:spPr>
          <a:xfrm>
            <a:off x="1206500" y="2478125"/>
            <a:ext cx="21971000" cy="10075771"/>
          </a:xfrm>
          <a:prstGeom prst="rect">
            <a:avLst/>
          </a:prstGeom>
        </p:spPr>
        <p:txBody>
          <a:bodyPr/>
          <a:lstStyle/>
          <a:p>
            <a:pPr marL="388620" indent="-388620" defTabSz="302260">
              <a:spcBef>
                <a:spcPts val="3900"/>
              </a:spcBef>
              <a:defRPr sz="3400"/>
            </a:pPr>
            <a:r>
              <a:t>AI does not replace a task; it augments and helps with automation; work is still done by the developer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Developer is responsible for the code generated by the AI Assistant based on prompts provided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Large number of Coding Assistants are available; all are fairly similar; its a developers choice to pick one as per their style and need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These code assistants can provide in-line suggestions while the developer is writing code or they allow developers to chat with it “ask-mode”, or use “plan-mode” to design an action plan before doing changes or use “code-mode” allowing AI to write code. (These modes are Windsurf specific; every Assistant provides similar modes)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SpecKit is one tool that works with Code Assistants to generate the specifications using slash-commands; The developer uses a </a:t>
            </a:r>
            <a:r>
              <a:rPr>
                <a:latin typeface="Graphik Medium"/>
                <a:ea typeface="Graphik Medium"/>
                <a:cs typeface="Graphik Medium"/>
                <a:sym typeface="Graphik Medium"/>
              </a:rPr>
              <a:t>structured interaction with AI </a:t>
            </a:r>
            <a:r>
              <a:t>to reach the final outcome — No adhoc prompting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This does not end at Specs.. </a:t>
            </a:r>
            <a:r>
              <a:rPr>
                <a:latin typeface="Graphik Medium"/>
                <a:ea typeface="Graphik Medium"/>
                <a:cs typeface="Graphik Medium"/>
                <a:sym typeface="Graphik Medium"/>
              </a:rPr>
              <a:t>Coding along with AI Agents is changing Software development cycle itself; to retain + enrich software engineer practices, </a:t>
            </a:r>
            <a:r>
              <a:rPr u="sng">
                <a:solidFill>
                  <a:schemeClr val="accent3">
                    <a:hueOff val="49437"/>
                    <a:lumOff val="-29144"/>
                  </a:schemeClr>
                </a:solidFill>
                <a:latin typeface="Graphik Medium"/>
                <a:ea typeface="Graphik Medium"/>
                <a:cs typeface="Graphik Medium"/>
                <a:sym typeface="Graphik Medium"/>
              </a:rPr>
              <a:t>“detailing-requirements”, “developing-clear-unambiguous specifications”</a:t>
            </a:r>
            <a:r>
              <a:rPr>
                <a:latin typeface="Graphik Medium"/>
                <a:ea typeface="Graphik Medium"/>
                <a:cs typeface="Graphik Medium"/>
                <a:sym typeface="Graphik Medium"/>
              </a:rPr>
              <a:t> is now at the heart of the process </a:t>
            </a:r>
          </a:p>
        </p:txBody>
      </p:sp>
      <p:sp>
        <p:nvSpPr>
          <p:cNvPr id="182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Large number of IDEs available with similar capabiliti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Large number of IDEs available with similar capabilities </a:t>
            </a:r>
          </a:p>
        </p:txBody>
      </p:sp>
      <p:sp>
        <p:nvSpPr>
          <p:cNvPr id="187" name="Which IDE to us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Which IDE to use?</a:t>
            </a:r>
          </a:p>
        </p:txBody>
      </p:sp>
      <p:sp>
        <p:nvSpPr>
          <p:cNvPr id="188" name="All AI Code Assistants have similar capabilities— it is developers choice which one to us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i="1" u="sng">
                <a:latin typeface="Graphik"/>
                <a:ea typeface="Graphik"/>
                <a:cs typeface="Graphik"/>
                <a:sym typeface="Graphik"/>
              </a:rPr>
              <a:t>All AI Code Assistants have similar capabilities</a:t>
            </a:r>
            <a:r>
              <a:t>— it is developers choice which one to use</a:t>
            </a:r>
          </a:p>
          <a:p>
            <a:pPr/>
            <a:r>
              <a:t>Each one is similarly priced… around $20 per month</a:t>
            </a:r>
          </a:p>
          <a:p>
            <a:pPr/>
            <a:r>
              <a:t>At the moment Claude Code (Anthropic) is most feature reach; but you ideally need “Max-version” priced at $100-$200 per month to use it to full extent </a:t>
            </a:r>
          </a:p>
          <a:p>
            <a:pPr/>
            <a:r>
              <a:t>To name a few: Copilot, AWS CodeWhisperer, Tabnine, Cursor, Replit Ghostwriter, Codeium, Windsurf, Cody</a:t>
            </a:r>
          </a:p>
          <a:p>
            <a:pPr/>
            <a:r>
              <a:t>Each of these IDEs connect with different LLMs: Claude Sonnet, Claude Opus, GPT-5, Grok, o3, SWE to name a few— this depends on your token usage or your subscription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ich ones to use? And when? — Its developers choice/ taste — try different models — below is one examp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511809">
              <a:defRPr sz="3409"/>
            </a:lvl1pPr>
          </a:lstStyle>
          <a:p>
            <a:pPr/>
            <a:r>
              <a:t>Which ones to use? And when? — Its developers choice/ taste — try different models — below is one example </a:t>
            </a:r>
          </a:p>
        </p:txBody>
      </p:sp>
      <p:sp>
        <p:nvSpPr>
          <p:cNvPr id="193" name="LLM mode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LLM models</a:t>
            </a:r>
          </a:p>
        </p:txBody>
      </p:sp>
      <p:sp>
        <p:nvSpPr>
          <p:cNvPr id="194" name="I want to control: Kind of tasks?…"/>
          <p:cNvSpPr txBox="1"/>
          <p:nvPr>
            <p:ph type="body" sz="half" idx="1"/>
          </p:nvPr>
        </p:nvSpPr>
        <p:spPr>
          <a:xfrm>
            <a:off x="2480260" y="5385939"/>
            <a:ext cx="9253443" cy="78758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/>
          <a:lstStyle/>
          <a:p>
            <a:pPr lvl="1" marL="731520" indent="-365760" defTabSz="284479">
              <a:spcBef>
                <a:spcPts val="3700"/>
              </a:spcBef>
              <a:defRPr sz="3200"/>
            </a:pPr>
            <a:r>
              <a:t>I want to control: Kind of tasks?</a:t>
            </a:r>
          </a:p>
          <a:p>
            <a:pPr lvl="2" marL="1097280" indent="-365760" defTabSz="284479">
              <a:spcBef>
                <a:spcPts val="3700"/>
              </a:spcBef>
              <a:defRPr sz="3200"/>
            </a:pPr>
            <a:r>
              <a:t>Simple / directed changes</a:t>
            </a:r>
          </a:p>
          <a:p>
            <a:pPr lvl="3" marL="1463040" indent="-365760" defTabSz="284479">
              <a:spcBef>
                <a:spcPts val="3700"/>
              </a:spcBef>
              <a:defRPr sz="3200"/>
            </a:pPr>
            <a:r>
              <a:t>Priority 1 — SWE-1.5; Claude Haiku 4.5</a:t>
            </a:r>
          </a:p>
          <a:p>
            <a:pPr lvl="3" marL="1463040" indent="-365760" defTabSz="284479">
              <a:spcBef>
                <a:spcPts val="3700"/>
              </a:spcBef>
              <a:defRPr sz="3200"/>
            </a:pPr>
            <a:r>
              <a:t>Priority 2: GPT 5.2 (low reasoning)</a:t>
            </a:r>
          </a:p>
          <a:p>
            <a:pPr lvl="2" marL="1097280" indent="-365760" defTabSz="284479">
              <a:spcBef>
                <a:spcPts val="3700"/>
              </a:spcBef>
              <a:defRPr sz="3200"/>
            </a:pPr>
            <a:r>
              <a:t>Larger/ Complex changes</a:t>
            </a:r>
          </a:p>
          <a:p>
            <a:pPr lvl="3" marL="1463040" indent="-365760" defTabSz="284479">
              <a:spcBef>
                <a:spcPts val="3700"/>
              </a:spcBef>
              <a:defRPr sz="3200"/>
            </a:pPr>
            <a:r>
              <a:t>Priority 1: Claude Sonnent 4.5</a:t>
            </a:r>
          </a:p>
          <a:p>
            <a:pPr lvl="3" marL="1463040" indent="-365760" defTabSz="284479">
              <a:spcBef>
                <a:spcPts val="3700"/>
              </a:spcBef>
              <a:defRPr sz="3200"/>
            </a:pPr>
            <a:r>
              <a:t>Priority 2: GPT 5.2 (medium)</a:t>
            </a:r>
          </a:p>
          <a:p>
            <a:pPr lvl="3" marL="1463040" indent="-365760" defTabSz="284479">
              <a:spcBef>
                <a:spcPts val="3700"/>
              </a:spcBef>
              <a:defRPr sz="3200"/>
            </a:pPr>
            <a:r>
              <a:t>Priority 3: Claude Opus 4.5</a:t>
            </a:r>
          </a:p>
        </p:txBody>
      </p:sp>
      <p:sp>
        <p:nvSpPr>
          <p:cNvPr id="195" name="AI should take control: Task Complexity?…"/>
          <p:cNvSpPr txBox="1"/>
          <p:nvPr/>
        </p:nvSpPr>
        <p:spPr>
          <a:xfrm>
            <a:off x="12778883" y="5358934"/>
            <a:ext cx="9253443" cy="7929855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lvl="1" marL="658368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AI should take control: Task Complexity?</a:t>
            </a:r>
          </a:p>
          <a:p>
            <a:pPr lvl="2" marL="987552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Scoped/ routine tasks</a:t>
            </a:r>
          </a:p>
          <a:p>
            <a:pPr lvl="3" marL="1316736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Priority 1: Claude Sonnet 4.5</a:t>
            </a:r>
          </a:p>
          <a:p>
            <a:pPr lvl="3" marL="1316736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Priority 2: SWE-1.5, Gemini 3 Pro</a:t>
            </a:r>
          </a:p>
          <a:p>
            <a:pPr lvl="3" marL="1316736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Priority 3: Claude Opus 4.5</a:t>
            </a:r>
          </a:p>
          <a:p>
            <a:pPr lvl="2" marL="987552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Very Complex</a:t>
            </a:r>
          </a:p>
          <a:p>
            <a:pPr lvl="3" marL="1316736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Priority 1: Claude Sonnet 4.5 (thinking)</a:t>
            </a:r>
          </a:p>
          <a:p>
            <a:pPr lvl="3" marL="1316736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Priority 2: GPT 5.2 (high), GPT 5.1 Codex-Max</a:t>
            </a:r>
          </a:p>
          <a:p>
            <a:pPr lvl="3" marL="1316736" indent="-329184" defTabSz="256031">
              <a:spcBef>
                <a:spcPts val="3300"/>
              </a:spcBef>
              <a:buSzPct val="100000"/>
              <a:buChar char="•"/>
              <a:defRPr sz="2880"/>
            </a:pPr>
            <a:r>
              <a:t>Priority 3: Claude Opus 4.5</a:t>
            </a:r>
          </a:p>
        </p:txBody>
      </p:sp>
      <p:sp>
        <p:nvSpPr>
          <p:cNvPr id="196" name="How much control do you want?"/>
          <p:cNvSpPr txBox="1"/>
          <p:nvPr/>
        </p:nvSpPr>
        <p:spPr>
          <a:xfrm>
            <a:off x="7565278" y="3819906"/>
            <a:ext cx="9253444" cy="1060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457200" indent="-457200">
              <a:buSzPct val="100000"/>
              <a:buChar char="•"/>
            </a:lvl1pPr>
          </a:lstStyle>
          <a:p>
            <a:pPr/>
            <a:r>
              <a:t>How much control do you want?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Background for SpecK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Background for SpecKit</a:t>
            </a:r>
          </a:p>
        </p:txBody>
      </p:sp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1317" y="2684468"/>
            <a:ext cx="10248901" cy="730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207912" y="8149294"/>
            <a:ext cx="9956801" cy="3619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SpecKit provides set of templates for AI Code Assistants (pull the latest).. use CLI to configure these templates for your Code Assistant or setup manually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 marL="457199" indent="-457199">
              <a:defRPr sz="3000"/>
            </a:pPr>
            <a:r>
              <a:t>SpecKit provides set of templates for AI Code Assistants (pull the latest).. use CLI to configure these templates for your Code Assistant or setup manually</a:t>
            </a:r>
          </a:p>
          <a:p>
            <a:pPr marL="457199" indent="-457199">
              <a:defRPr sz="3000"/>
            </a:pPr>
            <a:r>
              <a:t>Philosophy: document the specification, plan, tasks very well before making code changes</a:t>
            </a:r>
          </a:p>
          <a:p>
            <a:pPr marL="457199" indent="-457199">
              <a:defRPr sz="3000"/>
            </a:pPr>
            <a:r>
              <a:t>What this means for a developer: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“</a:t>
            </a:r>
            <a:r>
              <a:rPr b="1" u="sng">
                <a:latin typeface="Graphik"/>
                <a:ea typeface="Graphik"/>
                <a:cs typeface="Graphik"/>
                <a:sym typeface="Graphik"/>
              </a:rPr>
              <a:t>document</a:t>
            </a:r>
            <a:r>
              <a:t> </a:t>
            </a:r>
            <a:r>
              <a:rPr u="sng"/>
              <a:t>accurately before you code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” </a:t>
            </a:r>
          </a:p>
        </p:txBody>
      </p:sp>
      <p:sp>
        <p:nvSpPr>
          <p:cNvPr id="202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Handy links to documentation, explanati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Handy links to documentation, explanation </a:t>
            </a:r>
          </a:p>
        </p:txBody>
      </p:sp>
      <p:sp>
        <p:nvSpPr>
          <p:cNvPr id="207" name="Resources on Speck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Resources on Speckit</a:t>
            </a:r>
          </a:p>
        </p:txBody>
      </p:sp>
      <p:sp>
        <p:nvSpPr>
          <p:cNvPr id="208" name="From the creator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93192" indent="-393192" defTabSz="305815">
              <a:spcBef>
                <a:spcPts val="4000"/>
              </a:spcBef>
              <a:defRPr sz="3440"/>
            </a:pPr>
            <a:r>
              <a:t>From the creators:</a:t>
            </a:r>
          </a:p>
          <a:p>
            <a:pPr lvl="1" marL="786384" indent="-393192" defTabSz="305815">
              <a:spcBef>
                <a:spcPts val="4000"/>
              </a:spcBef>
              <a:defRPr sz="2580"/>
            </a:pPr>
            <a:r>
              <a:rPr u="sng">
                <a:hlinkClick r:id="rId2" invalidUrl="" action="" tgtFrame="" tooltip="" history="1" highlightClick="0" endSnd="0"/>
              </a:rPr>
              <a:t>https://github.com/github/spec-kit</a:t>
            </a:r>
            <a:r>
              <a:t> </a:t>
            </a:r>
          </a:p>
          <a:p>
            <a:pPr marL="393192" indent="-393192" defTabSz="305815">
              <a:spcBef>
                <a:spcPts val="4000"/>
              </a:spcBef>
              <a:defRPr sz="3440"/>
            </a:pPr>
            <a:r>
              <a:t>Youtube videos:</a:t>
            </a:r>
          </a:p>
          <a:p>
            <a:pPr lvl="1" marL="786384" indent="-393192" defTabSz="305815">
              <a:spcBef>
                <a:spcPts val="4000"/>
              </a:spcBef>
              <a:defRPr sz="2580"/>
            </a:pPr>
            <a:r>
              <a:rPr u="sng">
                <a:hlinkClick r:id="rId3" invalidUrl="" action="" tgtFrame="" tooltip="" history="1" highlightClick="0" endSnd="0"/>
              </a:rPr>
              <a:t>https://www.youtube.com/watch?v=a9eR1xsfvHg</a:t>
            </a:r>
            <a:r>
              <a:t>. ; </a:t>
            </a:r>
            <a:r>
              <a:rPr u="sng">
                <a:hlinkClick r:id="rId4" invalidUrl="" action="" tgtFrame="" tooltip="" history="1" highlightClick="0" endSnd="0"/>
              </a:rPr>
              <a:t>https://www.youtube.com/watch?v=SGHIQTsPzuY</a:t>
            </a:r>
            <a:r>
              <a:t>. ; </a:t>
            </a:r>
            <a:r>
              <a:rPr u="sng">
                <a:hlinkClick r:id="rId5" invalidUrl="" action="" tgtFrame="" tooltip="" history="1" highlightClick="0" endSnd="0"/>
              </a:rPr>
              <a:t>https://www.youtube.com/watch?v=8jtIXRyGMQU</a:t>
            </a:r>
            <a:r>
              <a:t> </a:t>
            </a:r>
          </a:p>
          <a:p>
            <a:pPr marL="393192" indent="-393192" defTabSz="305815">
              <a:spcBef>
                <a:spcPts val="4000"/>
              </a:spcBef>
              <a:defRPr sz="3440"/>
            </a:pPr>
            <a:r>
              <a:t>Windsurf links:</a:t>
            </a:r>
          </a:p>
          <a:p>
            <a:pPr lvl="1" marL="786384" indent="-393192" defTabSz="305815">
              <a:spcBef>
                <a:spcPts val="4000"/>
              </a:spcBef>
              <a:defRPr sz="2580"/>
            </a:pPr>
            <a:r>
              <a:rPr u="sng">
                <a:hlinkClick r:id="rId6" invalidUrl="" action="" tgtFrame="" tooltip="" history="1" highlightClick="0" endSnd="0"/>
              </a:rPr>
              <a:t>https://docs.windsurf.com/windsurf/cascade/workflows</a:t>
            </a:r>
          </a:p>
          <a:p>
            <a:pPr marL="393192" indent="-393192" defTabSz="305815">
              <a:spcBef>
                <a:spcPts val="4000"/>
              </a:spcBef>
              <a:defRPr sz="3440"/>
            </a:pPr>
            <a:r>
              <a:t>Similar alternative </a:t>
            </a:r>
          </a:p>
          <a:p>
            <a:pPr lvl="1" marL="786384" indent="-393192" defTabSz="305815">
              <a:spcBef>
                <a:spcPts val="4000"/>
              </a:spcBef>
              <a:defRPr sz="2580"/>
            </a:pPr>
            <a:r>
              <a:t>https://github.com/Fission-AI/OpenSpec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wo similar toolki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Two similar toolkits</a:t>
            </a:r>
          </a:p>
        </p:txBody>
      </p:sp>
      <p:sp>
        <p:nvSpPr>
          <p:cNvPr id="211" name="Comparing with OpenSpe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Comparing with OpenSpec</a:t>
            </a:r>
          </a:p>
        </p:txBody>
      </p:sp>
      <p:graphicFrame>
        <p:nvGraphicFramePr>
          <p:cNvPr id="212" name="Table 1"/>
          <p:cNvGraphicFramePr/>
          <p:nvPr/>
        </p:nvGraphicFramePr>
        <p:xfrm>
          <a:off x="1917547" y="3988370"/>
          <a:ext cx="20561606" cy="7891205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6849635"/>
                <a:gridCol w="6849635"/>
                <a:gridCol w="6849635"/>
              </a:tblGrid>
              <a:tr h="1125500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Aspect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Speckit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OpenSpec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25500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Purpose and Focus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Framework for writing and managing specifications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Open-source collaboration for specification-driven development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25500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Integration with AI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Direct integrations with AI coding assistants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Similar integrations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25500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Usability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Polished user interface for enhanced productivity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May require more technical knowledge; customizable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25500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Community and Support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Typically backed by commercial support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Relies on community support; responsiveness varies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25500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Flexibility and Extension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Structured extensibility for easy build-on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Encourages flexibility; open-source allows custom tweaks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25500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Documentation, Learning Curve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Comprehensive documentation lowers learning curve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Depends on community contributions; may vary in quality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ommand Work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Command Workflow</a:t>
            </a:r>
          </a:p>
        </p:txBody>
      </p:sp>
      <p:sp>
        <p:nvSpPr>
          <p:cNvPr id="217" name="Basic: constitution —&gt; specify —&gt; plan —&gt; tasks —&gt; implement…"/>
          <p:cNvSpPr txBox="1"/>
          <p:nvPr>
            <p:ph type="body" sz="half" idx="1"/>
          </p:nvPr>
        </p:nvSpPr>
        <p:spPr>
          <a:xfrm>
            <a:off x="1206500" y="2453163"/>
            <a:ext cx="21971000" cy="3835175"/>
          </a:xfrm>
          <a:prstGeom prst="rect">
            <a:avLst/>
          </a:prstGeom>
        </p:spPr>
        <p:txBody>
          <a:bodyPr/>
          <a:lstStyle/>
          <a:p>
            <a:pPr/>
            <a:r>
              <a:t>Basic: constitution —&gt; specify —&gt; plan —&gt; tasks —&gt; implement </a:t>
            </a:r>
          </a:p>
          <a:p>
            <a:pPr/>
            <a:r>
              <a:t>Alternate: constitution -&gt; specify -&gt; clarify -&gt; plan -&gt; tasks -&gt; analyze -&gt; implement</a:t>
            </a:r>
          </a:p>
        </p:txBody>
      </p:sp>
      <p:sp>
        <p:nvSpPr>
          <p:cNvPr id="218" name="/constitution project principles, standards"/>
          <p:cNvSpPr/>
          <p:nvPr/>
        </p:nvSpPr>
        <p:spPr>
          <a:xfrm>
            <a:off x="2064170" y="5807800"/>
            <a:ext cx="4810764" cy="15022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/>
            </a:lvl1pPr>
          </a:lstStyle>
          <a:p>
            <a:pPr/>
            <a:r>
              <a:t>/constitution project principles, standards</a:t>
            </a:r>
          </a:p>
        </p:txBody>
      </p:sp>
      <p:sp>
        <p:nvSpPr>
          <p:cNvPr id="219" name="Rectangle"/>
          <p:cNvSpPr/>
          <p:nvPr/>
        </p:nvSpPr>
        <p:spPr>
          <a:xfrm>
            <a:off x="2058011" y="8507979"/>
            <a:ext cx="18781210" cy="2203592"/>
          </a:xfrm>
          <a:prstGeom prst="rect">
            <a:avLst/>
          </a:prstGeom>
          <a:solidFill>
            <a:schemeClr val="accent1">
              <a:hueOff val="-181383"/>
              <a:satOff val="15108"/>
              <a:lumOff val="14987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2100"/>
            </a:pPr>
          </a:p>
        </p:txBody>
      </p:sp>
      <p:sp>
        <p:nvSpPr>
          <p:cNvPr id="220" name="/specify define what you need (no tech info)"/>
          <p:cNvSpPr/>
          <p:nvPr/>
        </p:nvSpPr>
        <p:spPr>
          <a:xfrm>
            <a:off x="2291578" y="8858645"/>
            <a:ext cx="2604713" cy="1502260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/specify define what you need (no tech info)</a:t>
            </a:r>
          </a:p>
        </p:txBody>
      </p:sp>
      <p:sp>
        <p:nvSpPr>
          <p:cNvPr id="221" name="/clarify follow up questions"/>
          <p:cNvSpPr/>
          <p:nvPr/>
        </p:nvSpPr>
        <p:spPr>
          <a:xfrm>
            <a:off x="5436518" y="8858645"/>
            <a:ext cx="2604712" cy="150226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/clarify follow up questions</a:t>
            </a:r>
          </a:p>
        </p:txBody>
      </p:sp>
      <p:sp>
        <p:nvSpPr>
          <p:cNvPr id="222" name="/plan implementation plan"/>
          <p:cNvSpPr/>
          <p:nvPr/>
        </p:nvSpPr>
        <p:spPr>
          <a:xfrm>
            <a:off x="8581457" y="8858645"/>
            <a:ext cx="2604713" cy="1502260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/plan implementation plan</a:t>
            </a:r>
          </a:p>
        </p:txBody>
      </p:sp>
      <p:sp>
        <p:nvSpPr>
          <p:cNvPr id="223" name="/tasks break plan into actionable steps"/>
          <p:cNvSpPr/>
          <p:nvPr/>
        </p:nvSpPr>
        <p:spPr>
          <a:xfrm>
            <a:off x="11726397" y="8858645"/>
            <a:ext cx="2604712" cy="1502260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/tasks break plan into actionable steps</a:t>
            </a:r>
          </a:p>
        </p:txBody>
      </p:sp>
      <p:sp>
        <p:nvSpPr>
          <p:cNvPr id="224" name="/implement execute tasks, text"/>
          <p:cNvSpPr/>
          <p:nvPr/>
        </p:nvSpPr>
        <p:spPr>
          <a:xfrm>
            <a:off x="18016275" y="8858645"/>
            <a:ext cx="2604713" cy="1502260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/implement execute tasks, text</a:t>
            </a:r>
          </a:p>
        </p:txBody>
      </p:sp>
      <p:sp>
        <p:nvSpPr>
          <p:cNvPr id="225" name="/analyze validate documents"/>
          <p:cNvSpPr/>
          <p:nvPr/>
        </p:nvSpPr>
        <p:spPr>
          <a:xfrm>
            <a:off x="14871337" y="8858645"/>
            <a:ext cx="2604712" cy="150226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/analyze validate documents</a:t>
            </a:r>
          </a:p>
        </p:txBody>
      </p:sp>
      <p:sp>
        <p:nvSpPr>
          <p:cNvPr id="226" name="Commit: pull request, merge"/>
          <p:cNvSpPr/>
          <p:nvPr/>
        </p:nvSpPr>
        <p:spPr>
          <a:xfrm>
            <a:off x="21161215" y="8858645"/>
            <a:ext cx="2604712" cy="150226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Commit: pull request, merge</a:t>
            </a:r>
          </a:p>
        </p:txBody>
      </p:sp>
      <p:sp>
        <p:nvSpPr>
          <p:cNvPr id="227" name="Line"/>
          <p:cNvSpPr/>
          <p:nvPr/>
        </p:nvSpPr>
        <p:spPr>
          <a:xfrm>
            <a:off x="4869098" y="9642919"/>
            <a:ext cx="568660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8" name="Line"/>
          <p:cNvSpPr/>
          <p:nvPr/>
        </p:nvSpPr>
        <p:spPr>
          <a:xfrm>
            <a:off x="4524183" y="7320675"/>
            <a:ext cx="1" cy="1222524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9" name="Line"/>
          <p:cNvSpPr/>
          <p:nvPr/>
        </p:nvSpPr>
        <p:spPr>
          <a:xfrm>
            <a:off x="8027013" y="9642919"/>
            <a:ext cx="568661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0" name="Line"/>
          <p:cNvSpPr/>
          <p:nvPr/>
        </p:nvSpPr>
        <p:spPr>
          <a:xfrm>
            <a:off x="11171953" y="9642919"/>
            <a:ext cx="568661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1" name="Line"/>
          <p:cNvSpPr/>
          <p:nvPr/>
        </p:nvSpPr>
        <p:spPr>
          <a:xfrm>
            <a:off x="14331108" y="9642919"/>
            <a:ext cx="568660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2" name="Line"/>
          <p:cNvSpPr/>
          <p:nvPr/>
        </p:nvSpPr>
        <p:spPr>
          <a:xfrm>
            <a:off x="17489023" y="9642919"/>
            <a:ext cx="568661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3" name="Line"/>
          <p:cNvSpPr/>
          <p:nvPr/>
        </p:nvSpPr>
        <p:spPr>
          <a:xfrm>
            <a:off x="20633963" y="9642919"/>
            <a:ext cx="568661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4" name="Line"/>
          <p:cNvSpPr/>
          <p:nvPr/>
        </p:nvSpPr>
        <p:spPr>
          <a:xfrm>
            <a:off x="22463571" y="10345827"/>
            <a:ext cx="1" cy="150226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5" name="Line"/>
          <p:cNvSpPr/>
          <p:nvPr/>
        </p:nvSpPr>
        <p:spPr>
          <a:xfrm>
            <a:off x="3591765" y="11787474"/>
            <a:ext cx="18781211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6" name="Line"/>
          <p:cNvSpPr/>
          <p:nvPr/>
        </p:nvSpPr>
        <p:spPr>
          <a:xfrm flipV="1">
            <a:off x="3558550" y="10346774"/>
            <a:ext cx="1" cy="1500367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When working with AI Coding Assistants"/>
          <p:cNvSpPr txBox="1"/>
          <p:nvPr>
            <p:ph type="body" idx="21"/>
          </p:nvPr>
        </p:nvSpPr>
        <p:spPr>
          <a:xfrm>
            <a:off x="1206500" y="1689100"/>
            <a:ext cx="21971000" cy="1003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When working with AI Coding Assistants</a:t>
            </a:r>
          </a:p>
        </p:txBody>
      </p:sp>
      <p:sp>
        <p:nvSpPr>
          <p:cNvPr id="241" name="Things to know: Skills"/>
          <p:cNvSpPr txBox="1"/>
          <p:nvPr>
            <p:ph type="title"/>
          </p:nvPr>
        </p:nvSpPr>
        <p:spPr>
          <a:xfrm>
            <a:off x="1206500" y="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Things to know: Skills</a:t>
            </a:r>
          </a:p>
        </p:txBody>
      </p:sp>
      <p:sp>
        <p:nvSpPr>
          <p:cNvPr id="242" name="spec-kit = “what good looks like”…"/>
          <p:cNvSpPr txBox="1"/>
          <p:nvPr>
            <p:ph type="body" sz="quarter" idx="1"/>
          </p:nvPr>
        </p:nvSpPr>
        <p:spPr>
          <a:xfrm>
            <a:off x="13226943" y="2784487"/>
            <a:ext cx="9950557" cy="4314567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= </a:t>
            </a:r>
            <a:r>
              <a:rPr b="1"/>
              <a:t>“what good looks like”</a:t>
            </a:r>
          </a:p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= </a:t>
            </a:r>
            <a:r>
              <a:rPr b="1"/>
              <a:t>“how good work is done”</a:t>
            </a:r>
          </a:p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is a process framework for AI-assisted software engineering</a:t>
            </a:r>
          </a:p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is a capability framework for AI agents</a:t>
            </a:r>
          </a:p>
          <a:p>
            <a:pPr>
              <a:spcBef>
                <a:spcPts val="1000"/>
              </a:spcBef>
              <a:defRPr b="1"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defines what should be built; skills define what the AI knows how to do.</a:t>
            </a:r>
          </a:p>
        </p:txBody>
      </p:sp>
      <p:pic>
        <p:nvPicPr>
          <p:cNvPr id="24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5911" y="2784487"/>
            <a:ext cx="10045701" cy="444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27900" y="7321575"/>
            <a:ext cx="9728200" cy="297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41309" y="10385463"/>
            <a:ext cx="9499601" cy="299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hese two can co-exist and complement each othe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These two can co-exist and complement each other </a:t>
            </a:r>
          </a:p>
        </p:txBody>
      </p:sp>
      <p:sp>
        <p:nvSpPr>
          <p:cNvPr id="250" name="SpecKit with Skil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SpecKit with Skills</a:t>
            </a:r>
          </a:p>
        </p:txBody>
      </p:sp>
      <p:sp>
        <p:nvSpPr>
          <p:cNvPr id="251" name="spec-kit governs what should be built and why…"/>
          <p:cNvSpPr txBox="1"/>
          <p:nvPr>
            <p:ph type="body" sz="half" idx="1"/>
          </p:nvPr>
        </p:nvSpPr>
        <p:spPr>
          <a:xfrm>
            <a:off x="12438219" y="3743742"/>
            <a:ext cx="9610164" cy="9437190"/>
          </a:xfrm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governs what should be built and why</a:t>
            </a: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  <a:r>
              <a:t>skills govern how the AI performs specific actions</a:t>
            </a: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  <a:r>
              <a:t>Think of spec-kit as the contract and skills as the toolbox.</a:t>
            </a: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  <a:r>
              <a:t>Personally I have found Specs very useful, valuable; but I have been an architect for a long time, producing large amount of documentation myself</a:t>
            </a: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  <a:r>
              <a:t>When I interview developers , most complain that Specs are too “process-heavy” .. lots of documentation before they can write code</a:t>
            </a: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438911" indent="-438911" defTabSz="341375">
              <a:spcBef>
                <a:spcPts val="900"/>
              </a:spcBef>
              <a:defRPr sz="3072">
                <a:latin typeface="Helvetica"/>
                <a:ea typeface="Helvetica"/>
                <a:cs typeface="Helvetica"/>
                <a:sym typeface="Helvetica"/>
              </a:defRPr>
            </a:pPr>
            <a:r>
              <a:t>This is where the tech-lead, principle developer should work with Business Analysts, Project manager, Quality Analyst to “write specs.md, run-clarify, write plan.md and tasks.md”</a:t>
            </a:r>
          </a:p>
        </p:txBody>
      </p:sp>
      <p:pic>
        <p:nvPicPr>
          <p:cNvPr id="25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156" y="3788199"/>
            <a:ext cx="9143744" cy="29900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5628" y="7468885"/>
            <a:ext cx="9194801" cy="3479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One more markdown you will hear"/>
          <p:cNvSpPr txBox="1"/>
          <p:nvPr>
            <p:ph type="body" idx="21"/>
          </p:nvPr>
        </p:nvSpPr>
        <p:spPr>
          <a:xfrm>
            <a:off x="1206500" y="1676400"/>
            <a:ext cx="21971000" cy="1003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One more markdown you will hear</a:t>
            </a:r>
          </a:p>
        </p:txBody>
      </p:sp>
      <p:sp>
        <p:nvSpPr>
          <p:cNvPr id="256" name="Agent.md"/>
          <p:cNvSpPr txBox="1"/>
          <p:nvPr>
            <p:ph type="title"/>
          </p:nvPr>
        </p:nvSpPr>
        <p:spPr>
          <a:xfrm>
            <a:off x="1206500" y="-127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Agent.md</a:t>
            </a:r>
          </a:p>
        </p:txBody>
      </p:sp>
      <p:sp>
        <p:nvSpPr>
          <p:cNvPr id="257" name="AGENT.md defines how the AI behaves…"/>
          <p:cNvSpPr txBox="1"/>
          <p:nvPr>
            <p:ph type="body" sz="half" idx="1"/>
          </p:nvPr>
        </p:nvSpPr>
        <p:spPr>
          <a:xfrm>
            <a:off x="15940436" y="3463912"/>
            <a:ext cx="7580803" cy="8980369"/>
          </a:xfrm>
          <a:prstGeom prst="rect">
            <a:avLst/>
          </a:prstGeom>
        </p:spPr>
        <p:txBody>
          <a:bodyPr/>
          <a:lstStyle/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AGENT.md defines how the AI behaves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Specs define what is being built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define what the AI can do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AGENT.md is the constitution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Specs are the laws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are the tools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They’re complementary — not redundant</a:t>
            </a:r>
          </a:p>
        </p:txBody>
      </p:sp>
      <p:pic>
        <p:nvPicPr>
          <p:cNvPr id="25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7080" y="3463912"/>
            <a:ext cx="10097706" cy="243556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5469" y="6683685"/>
            <a:ext cx="9980928" cy="2192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311560" y="3464102"/>
            <a:ext cx="4102101" cy="695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Which one fits where ?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Which one fits where ??</a:t>
            </a:r>
          </a:p>
        </p:txBody>
      </p:sp>
      <p:sp>
        <p:nvSpPr>
          <p:cNvPr id="265" name="AGENTS.md vs SPECS vs SKIL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AGENTS.md vs SPECS vs SKILLS</a:t>
            </a:r>
          </a:p>
        </p:txBody>
      </p:sp>
      <p:graphicFrame>
        <p:nvGraphicFramePr>
          <p:cNvPr id="266" name="Table 1"/>
          <p:cNvGraphicFramePr/>
          <p:nvPr/>
        </p:nvGraphicFramePr>
        <p:xfrm>
          <a:off x="1544929" y="3771700"/>
          <a:ext cx="21306842" cy="92223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323535"/>
                <a:gridCol w="5323535"/>
                <a:gridCol w="5323535"/>
                <a:gridCol w="5323535"/>
              </a:tblGrid>
              <a:tr h="115120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Dimensions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Agents.md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Specs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Skills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51202">
                <a:tc>
                  <a:txBody>
                    <a:bodyPr/>
                    <a:lstStyle/>
                    <a:p>
                      <a:pPr algn="ctr"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Define how the AI behaves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Define what is being built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Define what the AI can do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5120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Primary purpose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Control AI Agents behavior consistently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Control the development process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Control specific type of task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5120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Scope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Across projects, teams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Feature-based or for-a-system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For a task-type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5120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Role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always-on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lifecycle-based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Task-based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5120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Changes often?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rarely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Frequently, per feature/ project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Stays same for task-type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5120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Audience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AI Agent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AI + Human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AI Agent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5120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Enforces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Style, rules, discipline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Scope, intent, acceptance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3200"/>
                        <a:t>How that type of task is done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“If AI is doing more of the typing, what must I still be good at so the system doesn’t collapse?”"/>
          <p:cNvSpPr txBox="1"/>
          <p:nvPr>
            <p:ph type="body" idx="21"/>
          </p:nvPr>
        </p:nvSpPr>
        <p:spPr>
          <a:xfrm>
            <a:off x="1206500" y="2324100"/>
            <a:ext cx="21971000" cy="7610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190500" defTabSz="12700">
              <a:lnSpc>
                <a:spcPct val="135000"/>
              </a:lnSpc>
              <a:tabLst>
                <a:tab pos="546100" algn="l"/>
                <a:tab pos="901700" algn="l"/>
                <a:tab pos="1257300" algn="l"/>
                <a:tab pos="1612900" algn="l"/>
                <a:tab pos="1968500" algn="l"/>
                <a:tab pos="2324100" algn="l"/>
                <a:tab pos="2679700" algn="l"/>
                <a:tab pos="3035300" algn="l"/>
                <a:tab pos="3390900" algn="l"/>
                <a:tab pos="3746500" algn="l"/>
                <a:tab pos="4102100" algn="l"/>
                <a:tab pos="4457700" algn="l"/>
              </a:tabLst>
              <a:defRPr b="1" sz="2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“If AI is doing more of the typing, what must I still be good at so the system doesn’t collapse?”</a:t>
            </a:r>
          </a:p>
        </p:txBody>
      </p:sp>
      <p:sp>
        <p:nvSpPr>
          <p:cNvPr id="271" name="So… the Developers part in this ?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So… the Developers part in this ??</a:t>
            </a:r>
          </a:p>
        </p:txBody>
      </p:sp>
      <p:sp>
        <p:nvSpPr>
          <p:cNvPr id="272" name="Non-negotiable: AI amplifies skills; it does not replace Developer’s skills…"/>
          <p:cNvSpPr txBox="1"/>
          <p:nvPr>
            <p:ph type="body" idx="1"/>
          </p:nvPr>
        </p:nvSpPr>
        <p:spPr>
          <a:xfrm>
            <a:off x="1206500" y="3617858"/>
            <a:ext cx="21971000" cy="8886658"/>
          </a:xfrm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Non-negotiable:</a:t>
            </a:r>
            <a:r>
              <a:t> AI amplifies skills; it does not replace Developer’s skills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Architectural thinking:</a:t>
            </a:r>
            <a:r>
              <a:t> decompose the system, decide which component, library or design pattern suites best for the problem at hand; think about transaction boundaries; interface contracts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Specify the problem:</a:t>
            </a:r>
            <a:r>
              <a:t> translate business needs into technical intent; what should be the constraints; what should be the acceptance criteria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Review, Verification:</a:t>
            </a:r>
            <a:r>
              <a:t> Because AI codes fast, you must validate faster; spot complexity; identify security holes; spot clever but wrong solutions; iterate through each step (its not fire-and-forget)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Most imp — your </a:t>
            </a: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core development skills:</a:t>
            </a:r>
            <a:r>
              <a:t> if you are a Java developer, you must know Java thoroughly; you should not work with half-baked-knowledge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Analysts, Testers, Project Managers, Architects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Analysts, Testers, Project Managers, Architects…</a:t>
            </a:r>
          </a:p>
        </p:txBody>
      </p:sp>
      <p:sp>
        <p:nvSpPr>
          <p:cNvPr id="277" name="For other roles in SDL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For other roles in SDLC</a:t>
            </a:r>
          </a:p>
        </p:txBody>
      </p:sp>
      <p:sp>
        <p:nvSpPr>
          <p:cNvPr id="278" name="Agent.md, Specs and Skills each generate good amount of documentation; though it appears to be dev-centric…"/>
          <p:cNvSpPr txBox="1"/>
          <p:nvPr>
            <p:ph type="body" sz="half" idx="1"/>
          </p:nvPr>
        </p:nvSpPr>
        <p:spPr>
          <a:xfrm>
            <a:off x="10564812" y="3615400"/>
            <a:ext cx="12612688" cy="8889116"/>
          </a:xfrm>
          <a:prstGeom prst="rect">
            <a:avLst/>
          </a:prstGeom>
        </p:spPr>
        <p:txBody>
          <a:bodyPr/>
          <a:lstStyle/>
          <a:p>
            <a:pPr marL="406908" indent="-406908" defTabSz="316484">
              <a:spcBef>
                <a:spcPts val="4100"/>
              </a:spcBef>
              <a:defRPr sz="3559"/>
            </a:pPr>
            <a:r>
              <a:t>Agent.md, Specs and Skills each generate good amount of documentation; though it appears to be dev-centric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These three are not developer-only concepts; any role that works through structured artifacts and repeatable process can benefit 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Non-Developer roles can benefit more; their work is already text-heavy; many times artifacts are ambiguous 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A shared-intent, Spec between all roles is valuable; structured intent writing is important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Standardize the intent, encode behavior, automate execution across all roles.</a:t>
            </a:r>
          </a:p>
        </p:txBody>
      </p:sp>
      <p:pic>
        <p:nvPicPr>
          <p:cNvPr id="27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8062" y="4264192"/>
            <a:ext cx="8302305" cy="29806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09964" y="7523747"/>
            <a:ext cx="8318501" cy="3962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nning to work with A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to work with AI</a:t>
            </a:r>
          </a:p>
        </p:txBody>
      </p:sp>
      <p:sp>
        <p:nvSpPr>
          <p:cNvPr id="285" name="How I planned/ broke-down migration effort into phases and steps for making changes…"/>
          <p:cNvSpPr txBox="1"/>
          <p:nvPr>
            <p:ph type="body" idx="1"/>
          </p:nvPr>
        </p:nvSpPr>
        <p:spPr>
          <a:xfrm>
            <a:off x="1206500" y="2808469"/>
            <a:ext cx="21971000" cy="9696047"/>
          </a:xfrm>
          <a:prstGeom prst="rect">
            <a:avLst/>
          </a:prstGeom>
        </p:spPr>
        <p:txBody>
          <a:bodyPr/>
          <a:lstStyle/>
          <a:p>
            <a:pPr/>
            <a:r>
              <a:t>How I planned/ broke-down migration effort into phases and steps for making changes </a:t>
            </a:r>
          </a:p>
          <a:p>
            <a:pPr/>
            <a:r>
              <a:t>Sequencing and prioritization of the phases and steps</a:t>
            </a:r>
          </a:p>
          <a:p>
            <a:pPr/>
            <a:r>
              <a:t>Making the AI analyze the current codebase itself and match its analysis with my own experience creating the original app</a:t>
            </a:r>
          </a:p>
          <a:p>
            <a:pPr/>
            <a:r>
              <a:t>Getting the ground ready to let AI start making changes</a:t>
            </a:r>
          </a:p>
          <a:p>
            <a:pPr/>
            <a:r>
              <a:t>Key point —&gt; we don’t start coding directly when using AI.. we need to plan, document and be very specific on what we need to 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Ending though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Ending thoughts</a:t>
            </a:r>
          </a:p>
        </p:txBody>
      </p:sp>
      <p:sp>
        <p:nvSpPr>
          <p:cNvPr id="290" name="AI is still evolving at a very rapid pace.. standardization in coding practice using AI is in its infanc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AI is still evolving at a very rapid pace.. standardization in coding practice using AI is in its infancy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Developers need to try the tools and experiment with different approaches as they surface.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SpecKit is providing one such path; Claude Code is also using a very similar approach using “skills, scripts, templates, workflows” (comparing to memory, scripts, templates, workflows in SpecKit)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If you don’t use concepts like Agent.md, Specs, Skills, the developer will need to babysit with AI for a long time and no consistency can be reached; </a:t>
            </a:r>
            <a:r>
              <a:rPr>
                <a:latin typeface="Graphik Medium"/>
                <a:ea typeface="Graphik Medium"/>
                <a:cs typeface="Graphik Medium"/>
                <a:sym typeface="Graphik Medium"/>
              </a:rPr>
              <a:t>we need to bring repeatability, predictability into software engineering to make production code reliable</a:t>
            </a:r>
            <a:r>
              <a:t>; Feeding the AI Agents with these three will help get us there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rovide references to what other developers are research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Provide references to what other developers are researching </a:t>
            </a:r>
          </a:p>
        </p:txBody>
      </p:sp>
      <p:sp>
        <p:nvSpPr>
          <p:cNvPr id="293" name="From other develop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From other developers</a:t>
            </a:r>
          </a:p>
        </p:txBody>
      </p:sp>
      <p:sp>
        <p:nvSpPr>
          <p:cNvPr id="294" name="Follow podcasts/ spotify/ YouTube from leading developer organizations: Thoughtworks, MartinFowler, Info-Q, ChangeLog, Software Engineering podcast; — plus the key sources: Anthropic, OpenAI, Google, Microsoft…"/>
          <p:cNvSpPr txBox="1"/>
          <p:nvPr>
            <p:ph type="body" idx="1"/>
          </p:nvPr>
        </p:nvSpPr>
        <p:spPr>
          <a:xfrm>
            <a:off x="1206500" y="3622949"/>
            <a:ext cx="21971000" cy="9282884"/>
          </a:xfrm>
          <a:prstGeom prst="rect">
            <a:avLst/>
          </a:prstGeom>
        </p:spPr>
        <p:txBody>
          <a:bodyPr/>
          <a:lstStyle/>
          <a:p>
            <a:pPr marL="361188" indent="-361188" defTabSz="280924">
              <a:spcBef>
                <a:spcPts val="3700"/>
              </a:spcBef>
              <a:defRPr sz="3160"/>
            </a:pPr>
            <a:r>
              <a:t>Follow podcasts/ spotify/ YouTube from leading developer organizations: Thoughtworks, MartinFowler, Info-Q, ChangeLog, Software Engineering podcast; — plus the key sources: Anthropic, OpenAI, Google, Microsoft</a:t>
            </a:r>
          </a:p>
          <a:p>
            <a:pPr marL="361188" indent="-361188" defTabSz="280924">
              <a:spcBef>
                <a:spcPts val="3700"/>
              </a:spcBef>
              <a:defRPr sz="3160"/>
            </a:pPr>
            <a:r>
              <a:rPr u="sng">
                <a:hlinkClick r:id="rId3" invalidUrl="" action="" tgtFrame="" tooltip="" history="1" highlightClick="0" endSnd="0"/>
              </a:rPr>
              <a:t>https://podcasts.apple.com/us/podcast/how-ai-will-change-software-engineering-with-martin-fowler/id1769051199?i=1000737446931</a:t>
            </a:r>
            <a:r>
              <a:t> </a:t>
            </a:r>
          </a:p>
          <a:p>
            <a:pPr marL="361188" indent="-361188" defTabSz="280924">
              <a:spcBef>
                <a:spcPts val="3700"/>
              </a:spcBef>
              <a:defRPr sz="3160"/>
            </a:pPr>
            <a:r>
              <a:rPr u="sng">
                <a:hlinkClick r:id="rId4" invalidUrl="" action="" tgtFrame="" tooltip="" history="1" highlightClick="0" endSnd="0"/>
              </a:rPr>
              <a:t>https://martinfowler.com/articles/legacy-modernization-gen-ai.html</a:t>
            </a:r>
          </a:p>
          <a:p>
            <a:pPr marL="361188" indent="-361188" defTabSz="280924">
              <a:spcBef>
                <a:spcPts val="3700"/>
              </a:spcBef>
              <a:defRPr sz="3160"/>
            </a:pPr>
            <a:r>
              <a:rPr u="sng">
                <a:hlinkClick r:id="rId5" invalidUrl="" action="" tgtFrame="" tooltip="" history="1" highlightClick="0" endSnd="0"/>
              </a:rPr>
              <a:t>https://www.thoughtworks.com/en-in/insights/podcasts/technology-podcasts/using-generative-ai-legacy-modernization</a:t>
            </a:r>
          </a:p>
          <a:p>
            <a:pPr marL="361188" indent="-361188" defTabSz="280924">
              <a:spcBef>
                <a:spcPts val="3700"/>
              </a:spcBef>
              <a:defRPr sz="3160"/>
            </a:pPr>
            <a:r>
              <a:rPr u="sng">
                <a:hlinkClick r:id="rId6" invalidUrl="" action="" tgtFrame="" tooltip="" history="1" highlightClick="0" endSnd="0"/>
              </a:rPr>
              <a:t>https://youtu.be/6aD4c_izpnE?si=visMMXLY5mkJrQ8j</a:t>
            </a:r>
            <a:r>
              <a:t> </a:t>
            </a:r>
          </a:p>
          <a:p>
            <a:pPr marL="361188" indent="-361188" defTabSz="280924">
              <a:spcBef>
                <a:spcPts val="3700"/>
              </a:spcBef>
              <a:defRPr sz="3160"/>
            </a:pPr>
            <a:r>
              <a:rPr u="sng">
                <a:hlinkClick r:id="rId7" invalidUrl="" action="" tgtFrame="" tooltip="" history="1" highlightClick="0" endSnd="0"/>
              </a:rPr>
              <a:t>https://youtu.be/yNH52oDpIKw?si=TFH8X0ErUW6E7-_O</a:t>
            </a:r>
            <a:r>
              <a:t> </a:t>
            </a:r>
          </a:p>
          <a:p>
            <a:pPr marL="361188" indent="-361188" defTabSz="280924">
              <a:spcBef>
                <a:spcPts val="3700"/>
              </a:spcBef>
              <a:defRPr sz="3160"/>
            </a:pPr>
            <a:r>
              <a:rPr u="sng">
                <a:hlinkClick r:id="rId8" invalidUrl="" action="" tgtFrame="" tooltip="" history="1" highlightClick="0" endSnd="0"/>
              </a:rPr>
              <a:t>https://www.deeplearning.ai/</a:t>
            </a:r>
            <a:r>
              <a:t>.  …. </a:t>
            </a:r>
            <a:r>
              <a:rPr u="sng">
                <a:hlinkClick r:id="rId9" invalidUrl="" action="" tgtFrame="" tooltip="" history="1" highlightClick="0" endSnd="0"/>
              </a:rPr>
              <a:t>https://www.anthropic.com/learn</a:t>
            </a:r>
            <a:r>
              <a:t> </a:t>
            </a:r>
          </a:p>
          <a:p>
            <a:pPr marL="361188" indent="-361188" defTabSz="280924">
              <a:spcBef>
                <a:spcPts val="3700"/>
              </a:spcBef>
              <a:defRPr sz="3160"/>
            </a:pPr>
            <a:r>
              <a:t>Worth watching</a:t>
            </a:r>
            <a:r>
              <a:rPr>
                <a:latin typeface="Graphik Medium"/>
                <a:ea typeface="Graphik Medium"/>
                <a:cs typeface="Graphik Medium"/>
                <a:sym typeface="Graphik Medium"/>
              </a:rPr>
              <a:t> —&gt; </a:t>
            </a:r>
            <a:r>
              <a:rPr u="sng">
                <a:latin typeface="Graphik Medium"/>
                <a:ea typeface="Graphik Medium"/>
                <a:cs typeface="Graphik Medium"/>
                <a:sym typeface="Graphik Medium"/>
                <a:hlinkClick r:id="rId10" invalidUrl="" action="" tgtFrame="" tooltip="" history="1" highlightClick="0" endSnd="0"/>
              </a:rPr>
              <a:t>https://youtu.be/wVyQn6QRcT4?feature=shared</a:t>
            </a:r>
            <a:r>
              <a:rPr>
                <a:latin typeface="Graphik Medium"/>
                <a:ea typeface="Graphik Medium"/>
                <a:cs typeface="Graphik Medium"/>
                <a:sym typeface="Graphik Medium"/>
              </a:rP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… migrate sample application from old to new stack"/>
          <p:cNvSpPr txBox="1"/>
          <p:nvPr>
            <p:ph type="body" idx="21"/>
          </p:nvPr>
        </p:nvSpPr>
        <p:spPr>
          <a:xfrm>
            <a:off x="1206500" y="6310254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… migrate sample application from old to new stack</a:t>
            </a:r>
          </a:p>
        </p:txBody>
      </p:sp>
      <p:sp>
        <p:nvSpPr>
          <p:cNvPr id="299" name="Experiment:"/>
          <p:cNvSpPr txBox="1"/>
          <p:nvPr>
            <p:ph type="title"/>
          </p:nvPr>
        </p:nvSpPr>
        <p:spPr>
          <a:xfrm>
            <a:off x="1206500" y="4621154"/>
            <a:ext cx="21971000" cy="1689101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ctr" defTabSz="825500">
              <a:lnSpc>
                <a:spcPct val="100000"/>
              </a:lnSpc>
              <a:defRPr b="1" spc="0" sz="59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Experiment: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How can AI address Legacy App?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How can AI address Legacy App??</a:t>
            </a:r>
          </a:p>
        </p:txBody>
      </p:sp>
      <p:sp>
        <p:nvSpPr>
          <p:cNvPr id="302" name="Qualities of Legacy application…"/>
          <p:cNvSpPr txBox="1"/>
          <p:nvPr>
            <p:ph type="body" sz="half" idx="1"/>
          </p:nvPr>
        </p:nvSpPr>
        <p:spPr>
          <a:xfrm>
            <a:off x="11022478" y="2550460"/>
            <a:ext cx="12059517" cy="10278639"/>
          </a:xfrm>
          <a:prstGeom prst="rect">
            <a:avLst/>
          </a:prstGeom>
        </p:spPr>
        <p:txBody>
          <a:bodyPr/>
          <a:lstStyle/>
          <a:p>
            <a:pPr/>
            <a:r>
              <a:t>Qualities of Legacy application</a:t>
            </a:r>
          </a:p>
          <a:p>
            <a:pPr lvl="1">
              <a:spcBef>
                <a:spcPts val="1000"/>
              </a:spcBef>
              <a:defRPr sz="2400"/>
            </a:pPr>
            <a:r>
              <a:t>Technical Characteristics: outdated tech, tight coupling, poor architecture/ design, low testability</a:t>
            </a:r>
          </a:p>
          <a:p>
            <a:pPr lvl="1">
              <a:spcBef>
                <a:spcPts val="1000"/>
              </a:spcBef>
              <a:defRPr sz="2400"/>
            </a:pPr>
            <a:r>
              <a:t>Human factors: loss of institutional knowledge; skill scarcity</a:t>
            </a:r>
          </a:p>
          <a:p>
            <a:pPr lvl="1">
              <a:spcBef>
                <a:spcPts val="1000"/>
              </a:spcBef>
              <a:defRPr sz="2400"/>
            </a:pPr>
            <a:r>
              <a:t>Operational Characteristics: high risk of change, costly maintenance </a:t>
            </a:r>
          </a:p>
          <a:p>
            <a:pPr lvl="1">
              <a:spcBef>
                <a:spcPts val="1000"/>
              </a:spcBef>
              <a:defRPr sz="2400"/>
            </a:pPr>
            <a:r>
              <a:t>Business &amp; Strategic factors: misaligned with current business needs, compliance/ security risks</a:t>
            </a:r>
          </a:p>
          <a:p>
            <a:pPr/>
            <a:r>
              <a:t>Different ways to address Legacy application </a:t>
            </a:r>
          </a:p>
          <a:p>
            <a:pPr lvl="1">
              <a:spcBef>
                <a:spcPts val="1000"/>
              </a:spcBef>
              <a:defRPr sz="2400"/>
            </a:pPr>
            <a:r>
              <a:t>Leave as is</a:t>
            </a:r>
          </a:p>
          <a:p>
            <a:pPr lvl="1">
              <a:spcBef>
                <a:spcPts val="1000"/>
              </a:spcBef>
              <a:defRPr sz="2400"/>
            </a:pPr>
            <a:r>
              <a:t>Refactor/ Modernize</a:t>
            </a:r>
          </a:p>
          <a:p>
            <a:pPr lvl="1">
              <a:spcBef>
                <a:spcPts val="1000"/>
              </a:spcBef>
              <a:defRPr sz="2400"/>
            </a:pPr>
            <a:r>
              <a:t>Re-platform</a:t>
            </a:r>
          </a:p>
          <a:p>
            <a:pPr lvl="1">
              <a:spcBef>
                <a:spcPts val="1000"/>
              </a:spcBef>
              <a:defRPr sz="2400"/>
            </a:pPr>
            <a:r>
              <a:t>Rewrite/ Replace</a:t>
            </a:r>
          </a:p>
          <a:p>
            <a:pPr lvl="1">
              <a:spcBef>
                <a:spcPts val="1000"/>
              </a:spcBef>
              <a:defRPr sz="2400"/>
            </a:pPr>
            <a:r>
              <a:t>Strangler pattern</a:t>
            </a:r>
          </a:p>
          <a:p>
            <a:pPr/>
            <a:r>
              <a:t>Observation: </a:t>
            </a:r>
          </a:p>
          <a:p>
            <a:pPr lvl="1">
              <a:spcBef>
                <a:spcPts val="1000"/>
              </a:spcBef>
              <a:defRPr sz="2400"/>
            </a:pPr>
            <a:r>
              <a:t>Investigate both code as well as business requirements; get latest business requirements; use AI to analyze -&gt; document -&gt; get specs; AI for wrap-around testing; tackle one feature at a time; </a:t>
            </a:r>
          </a:p>
        </p:txBody>
      </p:sp>
      <p:pic>
        <p:nvPicPr>
          <p:cNvPr id="30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3301" y="2534083"/>
            <a:ext cx="10401301" cy="264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32087" y="9409756"/>
            <a:ext cx="7137401" cy="318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03238" y="5768719"/>
            <a:ext cx="6997701" cy="3048001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Migrating a sample application from old tech stack to new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Migrating a sample application from old tech stack to new</a:t>
            </a:r>
          </a:p>
        </p:txBody>
      </p:sp>
      <p:sp>
        <p:nvSpPr>
          <p:cNvPr id="311" name="About the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About the Experiment</a:t>
            </a:r>
          </a:p>
        </p:txBody>
      </p:sp>
      <p:sp>
        <p:nvSpPr>
          <p:cNvPr id="312" name="Why is this app legacy? a working application written in 2020 on older tech stack; newer versions of Java, Gradle do not support that stack; one of the key libraries is no longer supported today; a demo app with rest APIs which are expected to run 24/7 w"/>
          <p:cNvSpPr txBox="1"/>
          <p:nvPr>
            <p:ph type="body" idx="1"/>
          </p:nvPr>
        </p:nvSpPr>
        <p:spPr>
          <a:xfrm>
            <a:off x="1206500" y="3859534"/>
            <a:ext cx="21971000" cy="9033951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Why is this app legacy? a working application written in 2020 on older tech stack; newer versions of Java, Gradle do not support that stack; one of the key libraries is no longer supported today; a demo app with rest APIs which are expected to run 24/7 with a high transaction volume of up to 3,000 transactions per minute.</a:t>
            </a:r>
          </a:p>
          <a:p>
            <a:pPr>
              <a:defRPr sz="3200"/>
            </a:pPr>
            <a:r>
              <a:t>This experiment was started before I knew about SpecKit; hence it used AI Assistant following a plan and set sequence of instructions </a:t>
            </a:r>
          </a:p>
          <a:p>
            <a:pPr>
              <a:defRPr sz="3200"/>
            </a:pPr>
            <a:r>
              <a:t>Refactoring and modernization technique was used </a:t>
            </a:r>
          </a:p>
          <a:p>
            <a:pPr>
              <a:defRPr sz="3200"/>
            </a:pPr>
            <a:r>
              <a:t>Key points: </a:t>
            </a:r>
          </a:p>
          <a:p>
            <a:pPr lvl="1">
              <a:spcBef>
                <a:spcPts val="2000"/>
              </a:spcBef>
              <a:defRPr sz="3200"/>
            </a:pPr>
            <a:r>
              <a:t>Initial app was developed by myself in 2017; so the entire codebase as well as business requirements were well known; this was not a black-box</a:t>
            </a:r>
          </a:p>
          <a:p>
            <a:pPr lvl="1">
              <a:spcBef>
                <a:spcPts val="2000"/>
              </a:spcBef>
              <a:defRPr sz="3200"/>
            </a:pPr>
            <a:r>
              <a:t>Target tech stack after upgrade was also known before hand</a:t>
            </a:r>
          </a:p>
          <a:p>
            <a:pPr lvl="1">
              <a:spcBef>
                <a:spcPts val="2000"/>
              </a:spcBef>
              <a:defRPr sz="3200"/>
            </a:pPr>
            <a:r>
              <a:t>Experiment was with sequencing instructions to the AI Assistant and testing each step of the 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AI reviews, shows findings, Developer verifies"/>
          <p:cNvSpPr txBox="1"/>
          <p:nvPr>
            <p:ph type="body" idx="21"/>
          </p:nvPr>
        </p:nvSpPr>
        <p:spPr>
          <a:xfrm>
            <a:off x="1206500" y="1850782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4400"/>
            </a:lvl1pPr>
          </a:lstStyle>
          <a:p>
            <a:pPr/>
            <a:r>
              <a:t>AI reviews, shows findings, Developer verifies</a:t>
            </a:r>
          </a:p>
        </p:txBody>
      </p:sp>
      <p:sp>
        <p:nvSpPr>
          <p:cNvPr id="315" name="Glimpse of First Analysis"/>
          <p:cNvSpPr txBox="1"/>
          <p:nvPr>
            <p:ph type="title"/>
          </p:nvPr>
        </p:nvSpPr>
        <p:spPr>
          <a:xfrm>
            <a:off x="1206500" y="226967"/>
            <a:ext cx="21971000" cy="1689101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Glimpse of First Analysis</a:t>
            </a:r>
          </a:p>
        </p:txBody>
      </p:sp>
      <p:sp>
        <p:nvSpPr>
          <p:cNvPr id="316" name="Ask AI Code Assistant to analyze the codebase…"/>
          <p:cNvSpPr txBox="1"/>
          <p:nvPr>
            <p:ph type="body" sz="half" idx="1"/>
          </p:nvPr>
        </p:nvSpPr>
        <p:spPr>
          <a:xfrm>
            <a:off x="15958008" y="1962631"/>
            <a:ext cx="7607633" cy="10541885"/>
          </a:xfrm>
          <a:prstGeom prst="rect">
            <a:avLst/>
          </a:prstGeom>
        </p:spPr>
        <p:txBody>
          <a:bodyPr/>
          <a:lstStyle/>
          <a:p>
            <a:pPr/>
            <a:r>
              <a:t>Ask AI Code Assistant to analyze the codebase</a:t>
            </a:r>
          </a:p>
          <a:p>
            <a:pPr/>
            <a:r>
              <a:t>As a developer, verify the findings documented by AI </a:t>
            </a:r>
          </a:p>
          <a:p>
            <a:pPr/>
            <a:r>
              <a:t>In my case, being the original developer of this application written in 2020, I was able to verify accuracy of the analysis</a:t>
            </a:r>
          </a:p>
        </p:txBody>
      </p:sp>
      <p:pic>
        <p:nvPicPr>
          <p:cNvPr id="31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455" y="2845565"/>
            <a:ext cx="8792156" cy="365414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31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92762" y="5459776"/>
            <a:ext cx="7321360" cy="694836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31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9543" y="6900963"/>
            <a:ext cx="7118830" cy="312288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First Analysis continu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First Analysis continued</a:t>
            </a:r>
          </a:p>
        </p:txBody>
      </p:sp>
      <p:sp>
        <p:nvSpPr>
          <p:cNvPr id="322" name="Even before I showed AI my plan for migration, it had listed correctly which features were good and which outdated.…"/>
          <p:cNvSpPr txBox="1"/>
          <p:nvPr>
            <p:ph type="body" sz="quarter" idx="1"/>
          </p:nvPr>
        </p:nvSpPr>
        <p:spPr>
          <a:xfrm>
            <a:off x="8971222" y="2515834"/>
            <a:ext cx="14206278" cy="3214775"/>
          </a:xfrm>
          <a:prstGeom prst="rect">
            <a:avLst/>
          </a:prstGeom>
        </p:spPr>
        <p:txBody>
          <a:bodyPr/>
          <a:lstStyle/>
          <a:p>
            <a:pPr/>
            <a:r>
              <a:t>Even before I showed AI my plan for migration, it had listed correctly which features were good and which outdated.</a:t>
            </a:r>
          </a:p>
          <a:p>
            <a:pPr/>
            <a:r>
              <a:t>This also helped me update my own plan for migration</a:t>
            </a:r>
          </a:p>
        </p:txBody>
      </p:sp>
      <p:pic>
        <p:nvPicPr>
          <p:cNvPr id="3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5250" y="2561868"/>
            <a:ext cx="5978641" cy="428242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32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0070" y="7088410"/>
            <a:ext cx="5969001" cy="576580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32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648338" y="7359605"/>
            <a:ext cx="4839998" cy="548374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326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033107" y="7375639"/>
            <a:ext cx="5041901" cy="45466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327" name="After migration was completed"/>
          <p:cNvSpPr txBox="1"/>
          <p:nvPr/>
        </p:nvSpPr>
        <p:spPr>
          <a:xfrm>
            <a:off x="12649474" y="6493132"/>
            <a:ext cx="10447405" cy="79502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After migration was completed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Drafting the pla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Drafting the plan</a:t>
            </a:r>
          </a:p>
        </p:txBody>
      </p:sp>
      <p:sp>
        <p:nvSpPr>
          <p:cNvPr id="330" name="Step 1: ask AI to analyze codebase; describe what this application is and what key features it has (NOTE: this later part is because I was the original developer)…"/>
          <p:cNvSpPr txBox="1"/>
          <p:nvPr>
            <p:ph type="body" idx="1"/>
          </p:nvPr>
        </p:nvSpPr>
        <p:spPr>
          <a:xfrm>
            <a:off x="1206500" y="2996866"/>
            <a:ext cx="21971000" cy="9507650"/>
          </a:xfrm>
          <a:prstGeom prst="rect">
            <a:avLst/>
          </a:prstGeom>
        </p:spPr>
        <p:txBody>
          <a:bodyPr/>
          <a:lstStyle/>
          <a:p>
            <a:pPr/>
            <a:r>
              <a:t>Step 1: ask AI to analyze codebase; describe what this application is and what key features it has (NOTE: this later part is because I was the original developer)</a:t>
            </a:r>
          </a:p>
          <a:p>
            <a:pPr/>
            <a:r>
              <a:t>Step 2: ask AI to create a step by step plan for migrating this application to latest stack and document this plan in a markdown file. Give it a hint to use gradle 9, java 21</a:t>
            </a:r>
          </a:p>
          <a:p>
            <a:pPr/>
            <a:r>
              <a:t>Step 3: ask AI to create separate migration plan for circuit breaker migration and save that in another markdown; give hint to use resilience4j (Here as well I had researched this lib before hand)</a:t>
            </a:r>
          </a:p>
          <a:p>
            <a:pPr/>
            <a:r>
              <a:t>Step 4: ask AI to create another plan for changing backend from mongodb to H2</a:t>
            </a:r>
          </a:p>
          <a:p>
            <a:pPr/>
            <a:r>
              <a:t>NOTE: separate research was done beforehand on steps 2, 3, 4; experiment was observing how AI was addressing these tasks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omparing my approach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Comparing my approach with speckit</a:t>
            </a:r>
          </a:p>
        </p:txBody>
      </p:sp>
      <p:sp>
        <p:nvSpPr>
          <p:cNvPr id="333" name="Journey of chan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Journey of changes</a:t>
            </a:r>
          </a:p>
        </p:txBody>
      </p:sp>
      <p:sp>
        <p:nvSpPr>
          <p:cNvPr id="334" name="Further experimenting on other greenfield projects using speckit; the sequential plan I used here was in line with speckits’ specify, clarify, plan commands…"/>
          <p:cNvSpPr txBox="1"/>
          <p:nvPr>
            <p:ph type="body" idx="1"/>
          </p:nvPr>
        </p:nvSpPr>
        <p:spPr>
          <a:xfrm>
            <a:off x="1206500" y="3470183"/>
            <a:ext cx="21971000" cy="9034333"/>
          </a:xfrm>
          <a:prstGeom prst="rect">
            <a:avLst/>
          </a:prstGeom>
        </p:spPr>
        <p:txBody>
          <a:bodyPr/>
          <a:lstStyle/>
          <a:p>
            <a:pPr/>
            <a:r>
              <a:t>Further experimenting on other greenfield projects using speckit; the sequential plan I used here was in line with speckits’ specify, clarify, plan commands</a:t>
            </a:r>
          </a:p>
          <a:p>
            <a:pPr/>
            <a:r>
              <a:t>The features or changes needed were called out in steps 2, 3, 4</a:t>
            </a:r>
          </a:p>
          <a:p>
            <a:pPr/>
            <a:r>
              <a:t>Also fair amount of interaction went behind each steps to get it to a desired level: java/springboot-upgrade; circuit-breaker-upgrade; database-upgrade;</a:t>
            </a:r>
          </a:p>
          <a:p>
            <a:pPr/>
            <a:r>
              <a:t>One important distinction; in this experiment I was having AI implement each step fully at a time; unlike executing “task-command” followed by “implement”; </a:t>
            </a:r>
          </a:p>
          <a:p>
            <a:pPr/>
            <a:r>
              <a:t>Also for each code change AI was making, I was verifying those changes, testing with unit tests and then committing changes that looked good.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ompare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Compare with speckit</a:t>
            </a:r>
          </a:p>
        </p:txBody>
      </p:sp>
      <p:sp>
        <p:nvSpPr>
          <p:cNvPr id="337" name="Backend working with new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Backend working with new stack</a:t>
            </a:r>
          </a:p>
        </p:txBody>
      </p:sp>
      <p:sp>
        <p:nvSpPr>
          <p:cNvPr id="338" name="In the migration experiment I had fair amount of interaction with AI to reach on a good enough upgrade; later experiments using speckit proved that if specification and plan is build with careful details, these iterations can be controlled…"/>
          <p:cNvSpPr txBox="1"/>
          <p:nvPr>
            <p:ph type="body" sz="half" idx="1"/>
          </p:nvPr>
        </p:nvSpPr>
        <p:spPr>
          <a:xfrm>
            <a:off x="1206500" y="3685802"/>
            <a:ext cx="21971000" cy="4062334"/>
          </a:xfrm>
          <a:prstGeom prst="rect">
            <a:avLst/>
          </a:prstGeom>
        </p:spPr>
        <p:txBody>
          <a:bodyPr/>
          <a:lstStyle/>
          <a:p>
            <a:pPr marL="347472" indent="-347472" defTabSz="270255">
              <a:spcBef>
                <a:spcPts val="3500"/>
              </a:spcBef>
              <a:defRPr sz="3040"/>
            </a:pPr>
            <a:r>
              <a:t>In the migration experiment I had fair amount of interaction with AI to reach on a good enough upgrade; later experiments using speckit proved that if specification and plan is build with careful details, these iterations can be controlled 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It took me 3-4 weeks to complete steps 2, 3, 4 as outlined before. — speckit can help reduce this time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Verifying changes made by AI using test cases was also important; on some occasions I also had AI generate more test cases. I was manually checking these in the Windsurf to see how these tests ran.</a:t>
            </a:r>
          </a:p>
        </p:txBody>
      </p:sp>
      <p:pic>
        <p:nvPicPr>
          <p:cNvPr id="33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93678" y="7362156"/>
            <a:ext cx="9662917" cy="5867444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Increase testa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Increase testability</a:t>
            </a:r>
          </a:p>
        </p:txBody>
      </p:sp>
      <p:sp>
        <p:nvSpPr>
          <p:cNvPr id="342" name="My initial test cases in the original application were only checking on the service layer, repository layer, and Aspects…"/>
          <p:cNvSpPr txBox="1"/>
          <p:nvPr>
            <p:ph type="body" idx="1"/>
          </p:nvPr>
        </p:nvSpPr>
        <p:spPr>
          <a:xfrm>
            <a:off x="1206500" y="2522528"/>
            <a:ext cx="21971000" cy="9981988"/>
          </a:xfrm>
          <a:prstGeom prst="rect">
            <a:avLst/>
          </a:prstGeom>
        </p:spPr>
        <p:txBody>
          <a:bodyPr/>
          <a:lstStyle/>
          <a:p>
            <a:pPr/>
            <a:r>
              <a:t>My initial test cases in the original application were only checking on the service layer, repository layer, and Aspects</a:t>
            </a:r>
          </a:p>
          <a:p>
            <a:pPr/>
            <a:r>
              <a:t>With code changes made by AI I started adding more tests around utilities, service layer and even controller</a:t>
            </a:r>
          </a:p>
          <a:p>
            <a:pPr/>
            <a:r>
              <a:t>Next I used AI to increase my test coverage to a higher level than before</a:t>
            </a:r>
          </a:p>
          <a:p>
            <a:pPr/>
            <a:r>
              <a:t>Classifying test cases per feature using BDD style test cases is helpful for pair programming with AI; more so as you are detailing fine-grain specifications; so its better to test is the code is satisfying those specifications.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Adding new fea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new feature</a:t>
            </a:r>
          </a:p>
        </p:txBody>
      </p:sp>
      <p:sp>
        <p:nvSpPr>
          <p:cNvPr id="345" name="This app was not having a client for the API — either a web-frontend or a CLI; so next came feature additions now that the essential upgrade was done.…"/>
          <p:cNvSpPr txBox="1"/>
          <p:nvPr>
            <p:ph type="body" idx="1"/>
          </p:nvPr>
        </p:nvSpPr>
        <p:spPr>
          <a:xfrm>
            <a:off x="1206500" y="2656350"/>
            <a:ext cx="21971000" cy="9848166"/>
          </a:xfrm>
          <a:prstGeom prst="rect">
            <a:avLst/>
          </a:prstGeom>
        </p:spPr>
        <p:txBody>
          <a:bodyPr/>
          <a:lstStyle/>
          <a:p>
            <a:pPr/>
            <a:r>
              <a:t>This app was not having a client for the API — either a web-frontend or a CLI; so next came feature additions now that the essential upgrade was done.</a:t>
            </a:r>
          </a:p>
          <a:p>
            <a:pPr/>
            <a:r>
              <a:t>I asked AI to add a frontend UI in ReactJS and that it should be a single page application </a:t>
            </a:r>
          </a:p>
          <a:p>
            <a:pPr/>
            <a:r>
              <a:t>This also ran through numerous iterations till desirable frontend UI was working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Adding documentation for the ap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documentation for the app</a:t>
            </a:r>
          </a:p>
        </p:txBody>
      </p:sp>
      <p:sp>
        <p:nvSpPr>
          <p:cNvPr id="348" name="Over the 5 week period working with AI to migrate the legacy application to new tech stack, I had been making my notes each day. After both backend and frontend were working as desired, now was a good time to capture all notes in the repository itself…"/>
          <p:cNvSpPr txBox="1"/>
          <p:nvPr>
            <p:ph type="body" idx="1"/>
          </p:nvPr>
        </p:nvSpPr>
        <p:spPr>
          <a:xfrm>
            <a:off x="1206500" y="2668655"/>
            <a:ext cx="21971000" cy="9835861"/>
          </a:xfrm>
          <a:prstGeom prst="rect">
            <a:avLst/>
          </a:prstGeom>
        </p:spPr>
        <p:txBody>
          <a:bodyPr/>
          <a:lstStyle/>
          <a:p>
            <a:pPr/>
            <a:r>
              <a:t>Over the 5 week period working with AI to migrate the legacy application to new tech stack, I had been making my notes each day. After both backend and frontend were working as desired, now was a good time to capture all notes in the repository itself</a:t>
            </a:r>
          </a:p>
          <a:p>
            <a:pPr/>
            <a:r>
              <a:t>I had AI generate documentation, of my journey — project summary, architecture, migration guides for gradle, resilience4j, H2; implementation guides, test summaries, code review, quick start guides, etc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-arrange docs to Mkdo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Re-arrange docs to Mkdocs</a:t>
            </a:r>
          </a:p>
        </p:txBody>
      </p:sp>
      <p:sp>
        <p:nvSpPr>
          <p:cNvPr id="351" name="For my experiment, I hand crafted the mkdocs for this application using documentation generated by AI…"/>
          <p:cNvSpPr txBox="1"/>
          <p:nvPr>
            <p:ph type="body" idx="1"/>
          </p:nvPr>
        </p:nvSpPr>
        <p:spPr>
          <a:xfrm>
            <a:off x="1206500" y="2588132"/>
            <a:ext cx="21971000" cy="9916384"/>
          </a:xfrm>
          <a:prstGeom prst="rect">
            <a:avLst/>
          </a:prstGeom>
        </p:spPr>
        <p:txBody>
          <a:bodyPr/>
          <a:lstStyle/>
          <a:p>
            <a:pPr/>
            <a:r>
              <a:t>For my experiment, I hand crafted the mkdocs for this application using documentation generated by AI</a:t>
            </a:r>
          </a:p>
          <a:p>
            <a:pPr/>
            <a:r>
              <a:t>I arranged the pages, the navigation, wrote my own index page and few others to organize documentation in certain way</a:t>
            </a:r>
          </a:p>
          <a:p>
            <a:pPr/>
            <a:r>
              <a:t>With thoughtful planning this could be achieved by asking AI generate documents in this layout and structure.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ummarizing this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Summarizing this experiment </a:t>
            </a:r>
          </a:p>
        </p:txBody>
      </p:sp>
      <p:sp>
        <p:nvSpPr>
          <p:cNvPr id="354" name="As my first experiment playing with AI Code Assistant, this did give me insight on how I should be interacting with AI…"/>
          <p:cNvSpPr txBox="1"/>
          <p:nvPr>
            <p:ph type="body" idx="1"/>
          </p:nvPr>
        </p:nvSpPr>
        <p:spPr>
          <a:xfrm>
            <a:off x="1206500" y="3670374"/>
            <a:ext cx="21971000" cy="8834142"/>
          </a:xfrm>
          <a:prstGeom prst="rect">
            <a:avLst/>
          </a:prstGeom>
        </p:spPr>
        <p:txBody>
          <a:bodyPr/>
          <a:lstStyle/>
          <a:p>
            <a:pPr/>
            <a:r>
              <a:t>As my first experiment playing with AI Code Assistant, this did give me insight on how I should be interacting with AI</a:t>
            </a:r>
          </a:p>
          <a:p>
            <a:pPr/>
            <a:r>
              <a:t>I experimented with SpecKit separately on simple example projects from scratch </a:t>
            </a:r>
          </a:p>
          <a:p>
            <a:pPr/>
            <a:r>
              <a:t>If I need to experiment on a large legacy system and also make use of SpecKit; my personal approach will be to isolate one feature or aspect of that legacy app and work with AI using SpecKit to understand and document the behavior of that feature; verify with business partners before making any changes.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… extra pages"/>
          <p:cNvSpPr txBox="1"/>
          <p:nvPr>
            <p:ph type="body" idx="21"/>
          </p:nvPr>
        </p:nvSpPr>
        <p:spPr>
          <a:xfrm>
            <a:off x="1206500" y="6310254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… extra pages</a:t>
            </a:r>
          </a:p>
        </p:txBody>
      </p:sp>
      <p:sp>
        <p:nvSpPr>
          <p:cNvPr id="357" name="Appendix"/>
          <p:cNvSpPr txBox="1"/>
          <p:nvPr>
            <p:ph type="title"/>
          </p:nvPr>
        </p:nvSpPr>
        <p:spPr>
          <a:xfrm>
            <a:off x="1206500" y="4621154"/>
            <a:ext cx="21971000" cy="1689101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ctr" defTabSz="825500">
              <a:lnSpc>
                <a:spcPct val="100000"/>
              </a:lnSpc>
              <a:defRPr b="1" spc="0" sz="59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“Working effectively with Legacy Code” by Michael Feathers (2004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“Working effectively with Legacy Code” by Michael Feathers (2004)</a:t>
            </a:r>
          </a:p>
        </p:txBody>
      </p:sp>
      <p:sp>
        <p:nvSpPr>
          <p:cNvPr id="360" name="Old advice is still rele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Old advice is still relevant </a:t>
            </a:r>
          </a:p>
        </p:txBody>
      </p:sp>
      <p:sp>
        <p:nvSpPr>
          <p:cNvPr id="361" name="First add tests and then do your chang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First add tests and then do your changes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Identify places to alter program behavior without changing code (“seams”)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Create tests that characterizes behavior of the piece of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Use sprout and wrap techniques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Sprout: create code in separate module/ package; test it; identify insertion point; call it from legacy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Wrap: rename old method you want to wrap; create a new method with same signature as old; call old method from new; put logic before &amp; after call; like AOP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